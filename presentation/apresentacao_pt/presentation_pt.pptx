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Curva de Acuracia Acumulada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Acuracia Acumulada</c:v>
                </c:pt>
              </c:strCache>
            </c:strRef>
          </c:tx>
          <c:spPr>
            <a:solidFill>
              <a:srgbClr val="2EC4B6"/>
            </a:solidFill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0,5</c:v>
                  </c:pt>
                  <c:pt idx="1">
                    <c:v>1,0</c:v>
                  </c:pt>
                  <c:pt idx="2">
                    <c:v>1,5</c:v>
                  </c:pt>
                  <c:pt idx="3">
                    <c:v>2,0</c:v>
                  </c:pt>
                  <c:pt idx="4">
                    <c:v>2,5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</c:v>
                </c:pt>
                <c:pt idx="1">
                  <c:v>0.4</c:v>
                </c:pt>
                <c:pt idx="2">
                  <c:v>0.52</c:v>
                </c:pt>
                <c:pt idx="3">
                  <c:v>0.62</c:v>
                </c:pt>
                <c:pt idx="4">
                  <c:v>0.7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Distribuicao de Erros de Predicao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Quantidade de Predicoes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0–0,5</c:v>
                  </c:pt>
                  <c:pt idx="1">
                    <c:v>0,5–1</c:v>
                  </c:pt>
                  <c:pt idx="2">
                    <c:v>1–1,5</c:v>
                  </c:pt>
                  <c:pt idx="3">
                    <c:v>1,5–2</c:v>
                  </c:pt>
                  <c:pt idx="4">
                    <c:v>2–2,5</c:v>
                  </c:pt>
                  <c:pt idx="5">
                    <c:v>2,5+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11200</c:v>
                </c:pt>
                <c:pt idx="1">
                  <c:v>9800</c:v>
                </c:pt>
                <c:pt idx="2">
                  <c:v>7400</c:v>
                </c:pt>
                <c:pt idx="3">
                  <c:v>5600</c:v>
                </c:pt>
                <c:pt idx="4">
                  <c:v>3800</c:v>
                </c:pt>
                <c:pt idx="5">
                  <c:v>10500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5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253A5E">
              <a:alpha val="30000"/>
            </a:srgbClr>
          </a:solidFill>
          <a:ln w="12700">
            <a:solidFill>
              <a:srgbClr val="253A5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 EXECUTIVA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Implementacao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Modelo de Recomendacao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3063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 Roadmap Estrategico baseados nos Dados Analiticos do MovieLens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611880"/>
            <a:ext cx="22860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dos Dados: Marco 2023 – Maio 2024  |  Fonte: Dataset MovieLens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Geral Estrategica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65960" cy="1417320"/>
          </a:xfrm>
          <a:prstGeom prst="rect">
            <a:avLst/>
          </a:prstGeom>
          <a:solidFill>
            <a:srgbClr val="162035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98.256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Filmes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1965960" cy="1417320"/>
          </a:xfrm>
          <a:prstGeom prst="rect">
            <a:avLst/>
          </a:prstGeom>
          <a:solidFill>
            <a:srgbClr val="162035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325880"/>
            <a:ext cx="196596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 / 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20848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 Topo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325880"/>
            <a:ext cx="1965960" cy="1417320"/>
          </a:xfrm>
          <a:prstGeom prst="rect">
            <a:avLst/>
          </a:prstGeom>
          <a:solidFill>
            <a:srgbClr val="162035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325880"/>
            <a:ext cx="19659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Acuracia do Modelo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Limiar 2,5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325880"/>
            <a:ext cx="1965960" cy="1417320"/>
          </a:xfrm>
          <a:prstGeom prst="rect">
            <a:avLst/>
          </a:prstGeom>
          <a:solidFill>
            <a:srgbClr val="162035"/>
          </a:solidFill>
          <a:ln w="19050">
            <a:solidFill>
              <a:srgbClr val="253A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325880"/>
            <a:ext cx="1965960" cy="64008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208483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 Mais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Descobertas Estrategicas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" y="342900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9242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recomendacao apresenta vis sistematico de superestimacao — as predicoes sao consistentemente maiores que as avaliacoes reais dos usuarios, exigindo recalibracao.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813048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7764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(41%) e Comedia (28%) dominam o catalogo — ajuste especifico por genero pode gerar ganhos significativos de acuracia.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197096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1605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Shawshank Redemption lidera com 10.774 avaliacoes e nota media 4,2 — excelente referencia para validacao do modelo.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581144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5445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de engajamento de usuarios sugerem alto potencial de retorno com uma engine de recomendacao personalizada orientada por crenças.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DE CONTEUDO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e Panorama de Generos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Distribuicao por Genero (98.256 titulos)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01168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719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41,1%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956816"/>
            <a:ext cx="32004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56816"/>
            <a:ext cx="2923032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12848"/>
            <a:ext cx="201168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432304"/>
            <a:ext cx="32004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32304"/>
            <a:ext cx="1962912" cy="91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688336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2670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32004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07792"/>
            <a:ext cx="874776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63824"/>
            <a:ext cx="201168" cy="201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31455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383280"/>
            <a:ext cx="32004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383280"/>
            <a:ext cx="753872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639312"/>
            <a:ext cx="201168" cy="2011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21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36210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3858768"/>
            <a:ext cx="32004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858768"/>
            <a:ext cx="597408" cy="914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Filmes Mais Avaliados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1737360"/>
            <a:ext cx="41148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253A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737360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7739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Shawshank Redemption (1994)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20299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10.774 avaliacoes  ·  ★ 4,2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359152"/>
            <a:ext cx="41148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253A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359152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3957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(2010)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26517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10.544 avaliacoes  ·  ★ 4,07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2980944"/>
            <a:ext cx="41148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253A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980944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0175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(1999)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32735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10.490 avaliacoes  ·  ★ 4,09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602736"/>
            <a:ext cx="41148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253A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602736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6393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Knight (2008)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389534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10.129 avaliacoes  ·  ★ 4,03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224528"/>
            <a:ext cx="41148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253A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4224528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2611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 da Luta (1999)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92040" y="451713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9.972 avaliacoes  ·  ★ 4,13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DE USUARIOS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 Padroes de Engajamento dos Usuarios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Usuario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3533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Avaliacoes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353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Media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533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Filmes Avaliados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de Atividade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8503920" cy="384048"/>
          </a:xfrm>
          <a:prstGeom prst="rect">
            <a:avLst/>
          </a:prstGeom>
          <a:solidFill>
            <a:srgbClr val="162035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6574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10.080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2022 – Out 2023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157984"/>
            <a:ext cx="850392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94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8434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224942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2494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24942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2494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2023 – Mar 2023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578608"/>
            <a:ext cx="8503920" cy="384048"/>
          </a:xfrm>
          <a:prstGeom prst="rect">
            <a:avLst/>
          </a:prstGeom>
          <a:solidFill>
            <a:srgbClr val="162035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700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8821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26700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16.688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26700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6700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6700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 2023 – Abr 2023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999232"/>
            <a:ext cx="850392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90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16763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54480" y="3090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28.696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3090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090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30906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2023 – Nov 2023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419856"/>
            <a:ext cx="8503920" cy="384048"/>
          </a:xfrm>
          <a:prstGeom prst="rect">
            <a:avLst/>
          </a:prstGeom>
          <a:solidFill>
            <a:srgbClr val="162035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1129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54480" y="35112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35112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35112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35112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2015 – Set 2023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3840480"/>
            <a:ext cx="850392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253A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931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55448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6.760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92240" y="3931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2019 – Dez 2019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162035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40740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Power User: O usuario 1699 registrou 878 filmes e mais de 91 mil pontos de avaliacao — modelar usuarios de alto engajamento pode desbloquear receita significativa de personalizacao.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AVALIACAO DO MODELO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de Desempenho do Modelo Atual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23444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1234440"/>
          <a:ext cx="4160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32004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de Desempenho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4160520"/>
            <a:ext cx="2011680" cy="731520"/>
          </a:xfrm>
          <a:prstGeom prst="rect">
            <a:avLst/>
          </a:prstGeom>
          <a:solidFill>
            <a:srgbClr val="162035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84048" y="42062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84048" y="44988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Acuracia @ limiar 2,5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496312" y="4160520"/>
            <a:ext cx="2011680" cy="731520"/>
          </a:xfrm>
          <a:prstGeom prst="rect">
            <a:avLst/>
          </a:prstGeom>
          <a:solidFill>
            <a:srgbClr val="162035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560320" y="42062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Superestimacao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60320" y="44988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Direcao do vis dominante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72584" y="4160520"/>
            <a:ext cx="2011680" cy="731520"/>
          </a:xfrm>
          <a:prstGeom prst="rect">
            <a:avLst/>
          </a:prstGeom>
          <a:solidFill>
            <a:srgbClr val="162035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36592" y="42062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IMAX / Infantil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36592" y="44988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 melhor previsto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848856" y="4160520"/>
            <a:ext cx="2011680" cy="731520"/>
          </a:xfrm>
          <a:prstGeom prst="rect">
            <a:avLst/>
          </a:prstGeom>
          <a:solidFill>
            <a:srgbClr val="162035"/>
          </a:solidFill>
          <a:ln w="15240">
            <a:solidFill>
              <a:srgbClr val="F7258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12864" y="42062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Documentario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912864" y="4498848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 pior previsto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 ESTRATEGICO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e Oportunidades de Negocio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Atuais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402336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83080"/>
            <a:ext cx="4572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837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 Sistematico de Superestimacao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075688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predicoes sao consistentemente superiores as avaliacoes reais; usuarios recebem conteudo que nao corresponde as suas preferencias reais.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532888"/>
            <a:ext cx="402336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532888"/>
            <a:ext cx="4572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877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Taxa de Erro (Bucket 2,5+)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825496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parte das predicoes cai na pior faixa de erro (2,5+), indicando desalinhamento significativo para conteudos de nicho.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282696"/>
            <a:ext cx="402336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282696"/>
            <a:ext cx="4572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Lacunas por Genero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575304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Documentario e Western apresentam o MAE mais alto — usuarios-alvo nesses generos recebem recomendacoes inadequadas.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032504"/>
            <a:ext cx="402336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032504"/>
            <a:ext cx="4572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0873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Partida Fria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4325112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com primeira atividade apos 2023 tem dados limitados — o modelo provavelmente tem desempenho inferior para novos usuarios.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132588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Negocio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1783080"/>
            <a:ext cx="416052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2EC4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783080"/>
            <a:ext cx="45720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183794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Recomendacoes Calibradas por Crencas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2075688"/>
            <a:ext cx="3959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Aproveitar os dados de crencas (expectativas pre-visualizacao) do MovieLens para reduzir o gap entre predicao e expectativa — diferencial competitivo unico.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32888"/>
            <a:ext cx="416052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2EC4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532888"/>
            <a:ext cx="45720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258775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Especializacao de Modelos por Genero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2312" y="2825496"/>
            <a:ext cx="3959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sub-modelos ensemble por genero para categorias com pior desempenho; potencial de ganho de 15-25% de acuracia em Drama e Documentario.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282696"/>
            <a:ext cx="416052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2EC4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282696"/>
            <a:ext cx="45720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333756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Personalizacao para Power Users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82312" y="3575304"/>
            <a:ext cx="3959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alto volume (+500 avaliacoes) exibem padroes previsiveis — personalizacao premium pode impulsionar upgrades de assinatura.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4032504"/>
            <a:ext cx="4160520" cy="658368"/>
          </a:xfrm>
          <a:prstGeom prst="rect">
            <a:avLst/>
          </a:prstGeom>
          <a:solidFill>
            <a:srgbClr val="162035"/>
          </a:solidFill>
          <a:ln w="10160">
            <a:solidFill>
              <a:srgbClr val="2EC4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4032504"/>
            <a:ext cx="45720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408736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de Reengajamento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82312" y="4325112"/>
            <a:ext cx="3959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com longos periodos de inatividade podem ser reativados com campanhas de 'filmes que voce vai amar' baseadas em crencas.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MODELO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Recomendacao de Nova Geracao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14800" cy="1508760"/>
          </a:xfrm>
          <a:prstGeom prst="rect">
            <a:avLst/>
          </a:prstGeom>
          <a:solidFill>
            <a:srgbClr val="162035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1148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44752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13898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Colaborativa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 por Crencas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dados de expectativas pre-visualizacao (crencas) coletados de Marco 2023 a Maio 2024 como nova dimensao de features, reduzindo o vis de superestimacao.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114800" cy="1508760"/>
          </a:xfrm>
          <a:prstGeom prst="rect">
            <a:avLst/>
          </a:prstGeom>
          <a:solidFill>
            <a:srgbClr val="162035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41148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444752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85232" y="13898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Sub-Modelos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Especificos por Genero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28032" y="19385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modelos ensemble especializados por cluster de genero. Drama/Comedia compartilham um modelo, enquanto generos de nicho recebem modelos dedicados.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508760"/>
          </a:xfrm>
          <a:prstGeom prst="rect">
            <a:avLst/>
          </a:prstGeom>
          <a:solidFill>
            <a:srgbClr val="162035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" y="3136392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" y="30815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Ponderacao por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Decaimento Temporal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" y="36301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maior peso a avaliacoes recentes para refletir evolucao do gosto do usuario. Usuarios ativos desde 2015 apresentam comportamento diferente dos da coorte 2023.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4114800" cy="1508760"/>
          </a:xfrm>
          <a:prstGeom prst="rect">
            <a:avLst/>
          </a:prstGeom>
          <a:solidFill>
            <a:srgbClr val="162035"/>
          </a:solidFill>
          <a:ln w="19050">
            <a:solidFill>
              <a:srgbClr val="7B61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71800"/>
            <a:ext cx="41148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85232" y="30815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Bayesiano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Novos Usuarios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28032" y="36301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usuarios novos (pos-2023), inicializar predicoes com priors bayesianos por genero derivados do catalogo de 98.256 titulos, atualizando conforme avaliacoes se acumulam.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Implementacao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1168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31720" y="1508760"/>
            <a:ext cx="137160" cy="109728"/>
          </a:xfrm>
          <a:prstGeom prst="rect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01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Fundacao e Auditoria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2011680" cy="2468880"/>
          </a:xfrm>
          <a:prstGeom prst="rect">
            <a:avLst/>
          </a:prstGeom>
          <a:solidFill>
            <a:srgbClr val="16203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109728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50008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vis e MAE do modelo atual por genero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109728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dataset de crencas para feature engineering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109728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7647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benchmarks de acuracia nos limiares 0,5–2,5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96312" y="1325880"/>
            <a:ext cx="201168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3–5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07992" y="1508760"/>
            <a:ext cx="137160" cy="109728"/>
          </a:xfrm>
          <a:prstGeom prst="rect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1901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do Modelo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496312" y="2286000"/>
            <a:ext cx="2011680" cy="2468880"/>
          </a:xfrm>
          <a:prstGeom prst="rect">
            <a:avLst/>
          </a:prstGeom>
          <a:solidFill>
            <a:srgbClr val="16203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33472" y="2377440"/>
            <a:ext cx="109728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2350008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modelo de filtragem colaborativa integrado por crencas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33472" y="3090672"/>
            <a:ext cx="109728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06324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sub-modelos por cluster de genero (5 clusters)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33472" y="3803904"/>
            <a:ext cx="109728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377647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camada de ponderacao por decaimento temporal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72584" y="1325880"/>
            <a:ext cx="201168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6–7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84264" y="1508760"/>
            <a:ext cx="137160" cy="109728"/>
          </a:xfrm>
          <a:prstGeom prst="rect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1901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Validacao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72584" y="2286000"/>
            <a:ext cx="2011680" cy="2468880"/>
          </a:xfrm>
          <a:prstGeom prst="rect">
            <a:avLst/>
          </a:prstGeom>
          <a:solidFill>
            <a:srgbClr val="16203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9744" y="237744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2350008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A/B: novo modelo vs. baseline em 10% dos usuarios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9744" y="3090672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306324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reducao de vis e melhoria de acuracia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9744" y="3803904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377647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desempenho de partida fria para novos usuarios 2024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48856" y="1325880"/>
            <a:ext cx="2011680" cy="5029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94576" y="1325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8–9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48856" y="1901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Completo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848856" y="2286000"/>
            <a:ext cx="2011680" cy="2468880"/>
          </a:xfrm>
          <a:prstGeom prst="rect">
            <a:avLst/>
          </a:prstGeom>
          <a:solidFill>
            <a:srgbClr val="162035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86016" y="2377440"/>
            <a:ext cx="109728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68896" y="2350008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gradual para 100% dos usuarios ativos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86016" y="3090672"/>
            <a:ext cx="109728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68896" y="3063240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Lancar tier de personalizacao para power users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86016" y="3803904"/>
            <a:ext cx="109728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68896" y="377647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metricas em tempo real e gatilhos de retreino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NO NEGOCIO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 no Negocio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11680" cy="2011680"/>
          </a:xfrm>
          <a:prstGeom prst="rect">
            <a:avLst/>
          </a:prstGeom>
          <a:solidFill>
            <a:srgbClr val="162035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01168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+15–25%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Acuracia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251460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Sub-modelos por genero reduzem significativamente o MAE em categorias de nicho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1325880"/>
            <a:ext cx="2011680" cy="2011680"/>
          </a:xfrm>
          <a:prstGeom prst="rect">
            <a:avLst/>
          </a:prstGeom>
          <a:solidFill>
            <a:srgbClr val="162035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325880"/>
            <a:ext cx="201168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42032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Reducao 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 de Superestimacao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9464" y="251460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integrado por crencas ancora predicoes nas preferencias declaradas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72584" y="1325880"/>
            <a:ext cx="2011680" cy="2011680"/>
          </a:xfrm>
          <a:prstGeom prst="rect">
            <a:avLst/>
          </a:prstGeom>
          <a:solidFill>
            <a:srgbClr val="162035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325880"/>
            <a:ext cx="201168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18304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Usuarios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45736" y="251460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bayesianos de partida fria entregam melhor experiencia na primeira sessao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48856" y="1325880"/>
            <a:ext cx="2011680" cy="2011680"/>
          </a:xfrm>
          <a:prstGeom prst="rect">
            <a:avLst/>
          </a:prstGeom>
          <a:solidFill>
            <a:srgbClr val="162035"/>
          </a:solidFill>
          <a:ln w="1905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325880"/>
            <a:ext cx="201168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94576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Retencao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2008" y="251460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Recomendacoes personalizadas para usuarios de alto volume reduzem churn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493008"/>
            <a:ext cx="8503920" cy="1389888"/>
          </a:xfrm>
          <a:prstGeom prst="rect">
            <a:avLst/>
          </a:prstGeom>
          <a:solidFill>
            <a:srgbClr val="162035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66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Estrategico de Longo Prazo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3968496"/>
            <a:ext cx="128016" cy="12801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941064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dataset de crencas do MovieLens e um ativo unico — nenhum grande concorrente aproveita dados de expectativas pre-visualizacao em escala atualmente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4261104"/>
            <a:ext cx="128016" cy="12801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23367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segmentacao por genero cria base para decisoes de aquisicao de conteudo alinhadas aos padroes de demanda dos usuarios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4553712"/>
            <a:ext cx="128016" cy="12801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5262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acuracia correlaciona diretamente com menor churn de assinaturas e maior disposicao para explorar a profundidade do catalogo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53A5E">
              <a:alpha val="25000"/>
            </a:srgbClr>
          </a:solidFill>
          <a:ln w="12700">
            <a:solidFill>
              <a:srgbClr val="253A5E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CONCLUSAO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 Agora para Liderar o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Entretenimento Personalizado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474720" y="2606040"/>
            <a:ext cx="219456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sao claros: o modelo de recomendacao atual tem lacunas mensuraveis em acuracia e vis. O dataset de crencas do MovieLens oferece uma oportunidade rara de construir um sistema de proxima geracao que supera a filtragem colaborativa convencional — entregando melhores experiencias ao usuario, maior retencao e posicionamento de mercado diferenciado.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Recomendacao: Aprovar investimento na Fase 1 para iniciar auditoria do modelo e engenharia de features de crencas imediatamente.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 Vamos discutir os proximos passos.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Recomendacao Netflix – Apresentacao Executiva</dc:title>
  <dc:subject>PptxGenJS Presentation</dc:subject>
  <dc:creator>PptxGenJS</dc:creator>
  <cp:lastModifiedBy>PptxGenJS</cp:lastModifiedBy>
  <cp:revision>1</cp:revision>
  <dcterms:created xsi:type="dcterms:W3CDTF">2026-04-10T21:12:38Z</dcterms:created>
  <dcterms:modified xsi:type="dcterms:W3CDTF">2026-04-10T21:12:38Z</dcterms:modified>
</cp:coreProperties>
</file>