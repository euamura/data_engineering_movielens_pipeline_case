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Cumulative Accuracy Curve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Accuracy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1.0</c:v>
                  </c:pt>
                  <c:pt idx="2">
                    <c:v>1.5</c:v>
                  </c:pt>
                  <c:pt idx="3">
                    <c:v>2.0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0.4</c:v>
                </c:pt>
                <c:pt idx="2">
                  <c:v>0.52</c:v>
                </c:pt>
                <c:pt idx="3">
                  <c:v>0.62</c:v>
                </c:pt>
                <c:pt idx="4">
                  <c:v>0.7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Prediction Error Distribution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 Count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0–0.5</c:v>
                  </c:pt>
                  <c:pt idx="1">
                    <c:v>0.5–1</c:v>
                  </c:pt>
                  <c:pt idx="2">
                    <c:v>1–1.5</c:v>
                  </c:pt>
                  <c:pt idx="3">
                    <c:v>1.5–2</c:v>
                  </c:pt>
                  <c:pt idx="4">
                    <c:v>2–2.5</c:v>
                  </c:pt>
                  <c:pt idx="5">
                    <c:v>2.5+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11200</c:v>
                </c:pt>
                <c:pt idx="1">
                  <c:v>9800</c:v>
                </c:pt>
                <c:pt idx="2">
                  <c:v>7400</c:v>
                </c:pt>
                <c:pt idx="3">
                  <c:v>5600</c:v>
                </c:pt>
                <c:pt idx="4">
                  <c:v>3800</c:v>
                </c:pt>
                <c:pt idx="5">
                  <c:v>10500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5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253A5E">
              <a:alpha val="30000"/>
            </a:srgbClr>
          </a:solidFill>
          <a:ln w="12700">
            <a:solidFill>
              <a:srgbClr val="253A5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Model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Strategic Roadmap Based on MovieLens Analytical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611880"/>
            <a:ext cx="2286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March 2023 – May 2024  |  Source: MovieLens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98,256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25880"/>
            <a:ext cx="196596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/ 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Movie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325880"/>
            <a:ext cx="19659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Threshold 2.5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253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325880"/>
            <a:ext cx="1965960" cy="64008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Findings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924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model shows systematic overestimation bias — an average prediction is consistently higher than user actual ratings, requiring recalibration.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813048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764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(41%) and Comedy (28%) dominate the catalog — genre-specific model tuning can yield significant accuracy gains.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197096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1605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Shawshank Redemption leads with 10,774 ratings at 4.2 avg — a strong benchmark for model validation.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581144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5445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peaks suggest high return potential with a personalized, belief-driven recommendation engine.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Genre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Distribution (98,256 titles)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56816"/>
            <a:ext cx="2923032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12848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32304"/>
            <a:ext cx="1962912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88336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670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07792"/>
            <a:ext cx="874776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63824"/>
            <a:ext cx="201168" cy="201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1455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383280"/>
            <a:ext cx="753872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39312"/>
            <a:ext cx="201168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36210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858768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858768"/>
            <a:ext cx="597408" cy="91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Rated Movies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737360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37360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773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Shawshank Redemption (1994)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20299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10,774 ratings  ·  ★ 4.2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359152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359152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957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(2010)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2651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10,544 ratings  ·  ★ 4.07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980944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980944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17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(1999)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32735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10,490 ratings  ·  ★ 4.09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602736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602736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639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 (2008)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38953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10,129 ratings  ·  ★ 4.03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224528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4224528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261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Club (1999)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45171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9,972 ratings  ·  ★ 4.13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&amp; Engagement Patterns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53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Ratings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53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Rated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Span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8503920" cy="384048"/>
          </a:xfrm>
          <a:prstGeom prst="rect">
            <a:avLst/>
          </a:prstGeom>
          <a:solidFill>
            <a:srgbClr val="162035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2022 – Oct 2023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57984"/>
            <a:ext cx="8503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94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8434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2494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2494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494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94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2023 – Mar 2023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8503920" cy="384048"/>
          </a:xfrm>
          <a:prstGeom prst="rect">
            <a:avLst/>
          </a:prstGeom>
          <a:solidFill>
            <a:srgbClr val="162035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00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16,688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670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670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2023 – Apr 2023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999232"/>
            <a:ext cx="8503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90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16763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28,696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2023 – Nov 2023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419856"/>
            <a:ext cx="8503920" cy="384048"/>
          </a:xfrm>
          <a:prstGeom prst="rect">
            <a:avLst/>
          </a:prstGeom>
          <a:solidFill>
            <a:srgbClr val="162035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112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54480" y="3511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91,312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35112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511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511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2015 – Sep 2023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31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544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6,760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9224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2019 – Dec 2019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162035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074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Power User Opportunity: User 1699 logged 878 movies &amp; 91K+ rating points — modeling high-engagement users could unlock significant personalization revenue.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 Performance Analysis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344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234440"/>
          <a:ext cx="4160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84048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@ 2.5 threshold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96312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60320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bias direction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72584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IMAX / Children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36592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Best-predicted genre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48856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F7258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12864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912864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Worst-predicted genre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DIAGNOSIS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Business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83080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37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Overestimation Bias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075688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skew higher than actual user ratings; users receive content that doesn't match their real preferences.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532888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877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Rate (2.5+ Bucket)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825496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segment of predictions fall in the worst error range (2.5+), indicating significant misalignment for niche content.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82696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282696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Genre-Specific Gaps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575304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and Western genres show the highest MAE — targeted users in these genres receive poor recommendations.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032504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032504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087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Problem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325112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first activity post-2023 have limited data — current model likely underperforms for new joiners.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3258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Business Opportunities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1783080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783080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18379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Belief-Calibrated Recommendations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2075688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MovieLens belief data (expected ratings) to close the gap between prediction and expectation — unique competitive edge.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32888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532888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25877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Model Specialization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2825496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genre-specific sub-models for underperforming categories; potential 15–25% accuracy lift for Drama/Documentary segments.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82696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282696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33756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 Personalization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82312" y="3575304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users (&gt;500 ratings) exhibit predictable patterns — premium tier personalization can drive subscription upgrades.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032504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032504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40873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Campaigns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82312" y="4325112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long inactivity gaps can be reactivated with belief-driven 'movies you'll love' campaigns.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Recommendation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44752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389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Belief-Integrated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pre-watch expectation data (beliefs) collected March 2023–May 2024 as a new feature dimension, reducing overestimation bias by anchoring predictions to user-stated preferences.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41148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444752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85232" y="1389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Genre-Specific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Sub-Models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28032" y="1938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specialized ensemble models per genre cluster. Drama/Comedy share one model while niche genres (Documentary, Film-Noir) receive dedicated low-bias models trained on their rating distributions.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313639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3081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Decay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" y="36301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recent ratings more heavily to account for evolving user tastes. Users active since 2015 show measurably different rating behavior than 2023 cohorts — time-decay corrects this drift.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71800"/>
            <a:ext cx="41148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3081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Prior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28032" y="36301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users (post-2023), initialize predictions with genre-level Bayesian priors derived from the 98,256-title catalog, then update as ratings accumulate.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508760"/>
            <a:ext cx="137160" cy="109728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Audit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10972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current model bias and MAE by genre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10972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belief dataset for feature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10972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accuracy benchmarks at thresholds 0.5–2.5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96312" y="1325880"/>
            <a:ext cx="201168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07992" y="1508760"/>
            <a:ext cx="137160" cy="109728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96312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3472" y="2377440"/>
            <a:ext cx="109728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belief-integrated collaborative filtering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33472" y="3090672"/>
            <a:ext cx="109728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genre cluster sub-models (5 clusters)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33472" y="3803904"/>
            <a:ext cx="109728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temporal decay weighting 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72584" y="1325880"/>
            <a:ext cx="20116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84264" y="1508760"/>
            <a:ext cx="137160" cy="109728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72584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9744" y="237744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new model vs. baseline on 10% user segment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9744" y="3090672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bias reduction and accuracy improvement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9744" y="3803904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cold-start performance for new 2024 users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48856" y="1325880"/>
            <a:ext cx="2011680" cy="5029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48856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48856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86016" y="2377440"/>
            <a:ext cx="109728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 to 100% of active users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86016" y="3090672"/>
            <a:ext cx="109728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8896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power-user personalization tier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86016" y="3803904"/>
            <a:ext cx="109728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metrics and auto-retrain triggers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1168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sub-models reduce MAE significantly across niche categories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32588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42032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Reduction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9464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Belief-integrated model anchors predictions to stated user preferences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325880"/>
            <a:ext cx="20116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18304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cold-start priors deliver better first-session experience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48856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325880"/>
            <a:ext cx="201168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94576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for high-volume users reduce churn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8503920" cy="1389888"/>
          </a:xfrm>
          <a:prstGeom prst="rect">
            <a:avLst/>
          </a:prstGeom>
          <a:solidFill>
            <a:srgbClr val="162035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66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Long-Term Value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3968496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94106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dataset from MovieLens is a unique asset — no major competitor currently leverages pre-watch expectation data at scale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261104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23367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model segmentation creates a foundation for content acquisition decisions aligned to user demand patterns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553712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5262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 directly correlates with lower subscription churn and higher willingness to explore catalog depth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3A5E">
              <a:alpha val="25000"/>
            </a:srgbClr>
          </a:solidFill>
          <a:ln w="12700">
            <a:solidFill>
              <a:srgbClr val="253A5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 to Lead in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Entertainment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474720" y="2606040"/>
            <a:ext cx="219456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clear: the current recommendation model has measurable gaps in accuracy and bias. The MovieLens belief dataset provides a rare opportunity to build a next-generation system that outperforms conventional collaborative filtering — delivering better user experiences, stronger retention, and a differentiated market position.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Phase 1 investment to begin model audit and belief-feature engineering immediately.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next steps.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Recommendation Model – Executive Presentation</dc:title>
  <dc:subject>PptxGenJS Presentation</dc:subject>
  <dc:creator>PptxGenJS</dc:creator>
  <cp:lastModifiedBy>PptxGenJS</cp:lastModifiedBy>
  <cp:revision>1</cp:revision>
  <dcterms:created xsi:type="dcterms:W3CDTF">2026-04-10T21:10:17Z</dcterms:created>
  <dcterms:modified xsi:type="dcterms:W3CDTF">2026-04-10T21:10:17Z</dcterms:modified>
</cp:coreProperties>
</file>